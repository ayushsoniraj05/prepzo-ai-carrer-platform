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69" r:id="rId6"/>
    <p:sldId id="257" r:id="rId7"/>
    <p:sldId id="270" r:id="rId8"/>
    <p:sldId id="271" r:id="rId9"/>
    <p:sldId id="272" r:id="rId10"/>
    <p:sldId id="273" r:id="rId11"/>
    <p:sldId id="274" r:id="rId12"/>
    <p:sldId id="275" r:id="rId13"/>
    <p:sldId id="276" r:id="rId14"/>
    <p:sldId id="277"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4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spc="-1" dirty="0">
                <a:latin typeface="Times New Roman" panose="02020603050405020304" pitchFamily="18" charset="0"/>
                <a:ea typeface="Calibri" panose="020F0502020204030204" pitchFamily="34" charset="0"/>
                <a:cs typeface="Times New Roman" panose="02020603050405020304" pitchFamily="18" charset="0"/>
              </a:rPr>
              <a:t>Prepzo — AI Career Platform</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Ayush Soni 2211981122</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Bhaskar 2211981126</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Barsan Bera 2211981123</a:t>
            </a:r>
          </a:p>
          <a:p>
            <a:pPr algn="ctr">
              <a:spcBef>
                <a:spcPts val="400"/>
              </a:spcBef>
            </a:pPr>
            <a:r>
              <a:rPr lang="en-US" sz="2000" spc="-1" dirty="0">
                <a:solidFill>
                  <a:srgbClr val="000000"/>
                </a:solidFill>
                <a:latin typeface="Times New Roman" panose="02020603050405020304" pitchFamily="18" charset="0"/>
              </a:rPr>
              <a:t>Dushant 2211981151</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t>Dr. Ajay Kumar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0D48-35A5-D9EA-3097-E822C934822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Acknowledgement</a:t>
            </a:r>
          </a:p>
        </p:txBody>
      </p:sp>
      <p:sp>
        <p:nvSpPr>
          <p:cNvPr id="3" name="Subtitle 2">
            <a:extLst>
              <a:ext uri="{FF2B5EF4-FFF2-40B4-BE49-F238E27FC236}">
                <a16:creationId xmlns:a16="http://schemas.microsoft.com/office/drawing/2014/main" id="{921B07C6-731D-6A2D-597D-A569A49F5DBE}"/>
              </a:ext>
            </a:extLst>
          </p:cNvPr>
          <p:cNvSpPr>
            <a:spLocks noGrp="1"/>
          </p:cNvSpPr>
          <p:nvPr>
            <p:ph type="subTitle"/>
          </p:nvPr>
        </p:nvSpPr>
        <p:spPr>
          <a:xfrm>
            <a:off x="437535" y="1238864"/>
            <a:ext cx="8268929" cy="4159045"/>
          </a:xfrm>
        </p:spPr>
        <p:txBody>
          <a:bodyPr/>
          <a:lstStyle/>
          <a:p>
            <a:pPr marL="0" indent="0">
              <a:buNone/>
            </a:pPr>
            <a:r>
              <a:rPr lang="en-US" sz="2800" dirty="0">
                <a:latin typeface="Times New Roman" panose="02020603050405020304" pitchFamily="18" charset="0"/>
                <a:cs typeface="Times New Roman" panose="02020603050405020304" pitchFamily="18" charset="0"/>
              </a:rPr>
              <a:t>We sincerely thank our project guide Dr. Ajay Kumar for his invaluable guidance and constant encouragement throughout this project. His expertise was instrumental in navigating the challenges of integrating Large Language Models with real-time proctoring. We also thank the creators of React, Node.js, FastAPI, and the Groq AI platform — especially the Llama-3.1 model central to our assessment engine. Finally, we are grateful to Chitkara University and the Department of Computer Science &amp; Engineering for providing the resources and learning environment that made this project possible.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686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27660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40000"/>
              </a:lnSpc>
            </a:pPr>
            <a:r>
              <a:rPr lang="en-GB" sz="1600" dirty="0">
                <a:solidFill>
                  <a:srgbClr val="444444"/>
                </a:solidFill>
                <a:latin typeface="Times New Roman" panose="02020603050405020304" pitchFamily="18" charset="0"/>
                <a:cs typeface="Times New Roman" panose="02020603050405020304" pitchFamily="18" charset="0"/>
              </a:rPr>
              <a:t>These days, having a degree is not enough to get a job - companies are using special computer programs to pick the best people for the job, but students don't have a way to practice for this kind of test. That's where </a:t>
            </a:r>
            <a:r>
              <a:rPr lang="en-GB" sz="1600" dirty="0" err="1">
                <a:solidFill>
                  <a:srgbClr val="444444"/>
                </a:solidFill>
                <a:latin typeface="Times New Roman" panose="02020603050405020304" pitchFamily="18" charset="0"/>
                <a:cs typeface="Times New Roman" panose="02020603050405020304" pitchFamily="18" charset="0"/>
              </a:rPr>
              <a:t>Prepzo</a:t>
            </a:r>
            <a:r>
              <a:rPr lang="en-GB" sz="1600" dirty="0">
                <a:solidFill>
                  <a:srgbClr val="444444"/>
                </a:solidFill>
                <a:latin typeface="Times New Roman" panose="02020603050405020304" pitchFamily="18" charset="0"/>
                <a:cs typeface="Times New Roman" panose="02020603050405020304" pitchFamily="18" charset="0"/>
              </a:rPr>
              <a:t> comes in - it's a advanced platform that uses artificial intelligence to help students get ready for the real world. </a:t>
            </a:r>
            <a:r>
              <a:rPr lang="en-GB" sz="1600" dirty="0" err="1">
                <a:solidFill>
                  <a:srgbClr val="444444"/>
                </a:solidFill>
                <a:latin typeface="Times New Roman" panose="02020603050405020304" pitchFamily="18" charset="0"/>
                <a:cs typeface="Times New Roman" panose="02020603050405020304" pitchFamily="18" charset="0"/>
              </a:rPr>
              <a:t>Prepzo</a:t>
            </a:r>
            <a:r>
              <a:rPr lang="en-GB" sz="1600" dirty="0">
                <a:solidFill>
                  <a:srgbClr val="444444"/>
                </a:solidFill>
                <a:latin typeface="Times New Roman" panose="02020603050405020304" pitchFamily="18" charset="0"/>
                <a:cs typeface="Times New Roman" panose="02020603050405020304" pitchFamily="18" charset="0"/>
              </a:rPr>
              <a:t> is like a bridge between what students learn in school and what companies are actually looking for in a candidate. It's a place where students can go to get a feel for what it's like to take one of these high-stakes tests, and to get better at the things that companies are looking for.</a:t>
            </a:r>
          </a:p>
          <a:p>
            <a:pPr>
              <a:lnSpc>
                <a:spcPct val="140000"/>
              </a:lnSpc>
            </a:pPr>
            <a:endParaRPr lang="en-GB" sz="1600" dirty="0">
              <a:solidFill>
                <a:srgbClr val="444444"/>
              </a:solidFill>
              <a:latin typeface="Times New Roman" panose="02020603050405020304" pitchFamily="18" charset="0"/>
              <a:cs typeface="Times New Roman" panose="02020603050405020304" pitchFamily="18" charset="0"/>
            </a:endParaRPr>
          </a:p>
          <a:p>
            <a:pPr>
              <a:lnSpc>
                <a:spcPct val="140000"/>
              </a:lnSpc>
            </a:pPr>
            <a:r>
              <a:rPr lang="en-GB" sz="1600" dirty="0" err="1">
                <a:solidFill>
                  <a:srgbClr val="444444"/>
                </a:solidFill>
                <a:latin typeface="Times New Roman" panose="02020603050405020304" pitchFamily="18" charset="0"/>
                <a:cs typeface="Times New Roman" panose="02020603050405020304" pitchFamily="18" charset="0"/>
              </a:rPr>
              <a:t>Prepzo</a:t>
            </a:r>
            <a:r>
              <a:rPr lang="en-GB" sz="1600" dirty="0">
                <a:solidFill>
                  <a:srgbClr val="444444"/>
                </a:solidFill>
                <a:latin typeface="Times New Roman" panose="02020603050405020304" pitchFamily="18" charset="0"/>
                <a:cs typeface="Times New Roman" panose="02020603050405020304" pitchFamily="18" charset="0"/>
              </a:rPr>
              <a:t> is built using a microservices architecture, which means it's made up of lots of small, independent parts that work together. The frontend is created with React.js, the backend uses Node.js and Express, and there's also a special AI service powered by </a:t>
            </a:r>
            <a:r>
              <a:rPr lang="en-GB" sz="1600" dirty="0" err="1">
                <a:solidFill>
                  <a:srgbClr val="444444"/>
                </a:solidFill>
                <a:latin typeface="Times New Roman" panose="02020603050405020304" pitchFamily="18" charset="0"/>
                <a:cs typeface="Times New Roman" panose="02020603050405020304" pitchFamily="18" charset="0"/>
              </a:rPr>
              <a:t>Groq</a:t>
            </a:r>
            <a:r>
              <a:rPr lang="en-GB" sz="1600" dirty="0">
                <a:solidFill>
                  <a:srgbClr val="444444"/>
                </a:solidFill>
                <a:latin typeface="Times New Roman" panose="02020603050405020304" pitchFamily="18" charset="0"/>
                <a:cs typeface="Times New Roman" panose="02020603050405020304" pitchFamily="18" charset="0"/>
              </a:rPr>
              <a:t> LPU and Llama-3.1-70B that's built with Python and </a:t>
            </a:r>
            <a:r>
              <a:rPr lang="en-GB" sz="1600" dirty="0" err="1">
                <a:solidFill>
                  <a:srgbClr val="444444"/>
                </a:solidFill>
                <a:latin typeface="Times New Roman" panose="02020603050405020304" pitchFamily="18" charset="0"/>
                <a:cs typeface="Times New Roman" panose="02020603050405020304" pitchFamily="18" charset="0"/>
              </a:rPr>
              <a:t>FastAPI</a:t>
            </a:r>
            <a:r>
              <a:rPr lang="en-GB" sz="1600" dirty="0">
                <a:solidFill>
                  <a:srgbClr val="444444"/>
                </a:solidFill>
                <a:latin typeface="Times New Roman" panose="02020603050405020304" pitchFamily="18" charset="0"/>
                <a:cs typeface="Times New Roman" panose="02020603050405020304" pitchFamily="18" charset="0"/>
              </a:rPr>
              <a:t>. This platform does a lot of things - it's got an Autonomous AI Assessment Engine, Real-Time Proctoring, an AI </a:t>
            </a:r>
            <a:r>
              <a:rPr lang="en-GB" sz="1600" dirty="0" err="1">
                <a:solidFill>
                  <a:srgbClr val="444444"/>
                </a:solidFill>
                <a:latin typeface="Times New Roman" panose="02020603050405020304" pitchFamily="18" charset="0"/>
                <a:cs typeface="Times New Roman" panose="02020603050405020304" pitchFamily="18" charset="0"/>
              </a:rPr>
              <a:t>Behavioral</a:t>
            </a:r>
            <a:r>
              <a:rPr lang="en-GB" sz="1600" dirty="0">
                <a:solidFill>
                  <a:srgbClr val="444444"/>
                </a:solidFill>
                <a:latin typeface="Times New Roman" panose="02020603050405020304" pitchFamily="18" charset="0"/>
                <a:cs typeface="Times New Roman" panose="02020603050405020304" pitchFamily="18" charset="0"/>
              </a:rPr>
              <a:t> Mentor, and a Diagnostic Matrix Dashboard, all in one place.</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D1A8-FFE3-8AB2-7EF7-1521637ACAC4}"/>
              </a:ext>
            </a:extLst>
          </p:cNvPr>
          <p:cNvSpPr>
            <a:spLocks noGrp="1"/>
          </p:cNvSpPr>
          <p:nvPr>
            <p:ph type="title"/>
          </p:nvPr>
        </p:nvSpPr>
        <p:spPr>
          <a:xfrm>
            <a:off x="262890" y="0"/>
            <a:ext cx="5486040" cy="914040"/>
          </a:xfrm>
        </p:spPr>
        <p:txBody>
          <a:bodyPr/>
          <a:lstStyle/>
          <a:p>
            <a:r>
              <a:rPr lang="en-IN" b="1" dirty="0">
                <a:latin typeface="Times New Roman" panose="02020603050405020304" pitchFamily="18" charset="0"/>
                <a:cs typeface="Times New Roman" panose="02020603050405020304" pitchFamily="18" charset="0"/>
              </a:rPr>
              <a:t>Problem Statement: </a:t>
            </a:r>
          </a:p>
        </p:txBody>
      </p:sp>
      <p:sp>
        <p:nvSpPr>
          <p:cNvPr id="3" name="Subtitle 2">
            <a:extLst>
              <a:ext uri="{FF2B5EF4-FFF2-40B4-BE49-F238E27FC236}">
                <a16:creationId xmlns:a16="http://schemas.microsoft.com/office/drawing/2014/main" id="{5CAF7C55-E2E3-50A2-3942-0C09C675F22F}"/>
              </a:ext>
            </a:extLst>
          </p:cNvPr>
          <p:cNvSpPr>
            <a:spLocks noGrp="1"/>
          </p:cNvSpPr>
          <p:nvPr>
            <p:ph type="subTitle"/>
          </p:nvPr>
        </p:nvSpPr>
        <p:spPr>
          <a:xfrm>
            <a:off x="262890" y="976793"/>
            <a:ext cx="8332110" cy="5372100"/>
          </a:xfrm>
        </p:spPr>
        <p:txBody>
          <a:bodyPr/>
          <a:lstStyle/>
          <a:p>
            <a:pPr>
              <a:lnSpc>
                <a:spcPct val="140000"/>
              </a:lnSpc>
            </a:pPr>
            <a:r>
              <a:rPr lang="en-GB" sz="2000" dirty="0">
                <a:solidFill>
                  <a:srgbClr val="444444"/>
                </a:solidFill>
                <a:latin typeface="Times New Roman" panose="02020603050405020304" pitchFamily="18" charset="0"/>
                <a:cs typeface="Times New Roman" panose="02020603050405020304" pitchFamily="18" charset="0"/>
              </a:rPr>
              <a:t>Most existing platforms like </a:t>
            </a:r>
            <a:r>
              <a:rPr lang="en-GB" sz="2000" dirty="0" err="1">
                <a:solidFill>
                  <a:srgbClr val="444444"/>
                </a:solidFill>
                <a:latin typeface="Times New Roman" panose="02020603050405020304" pitchFamily="18" charset="0"/>
                <a:cs typeface="Times New Roman" panose="02020603050405020304" pitchFamily="18" charset="0"/>
              </a:rPr>
              <a:t>LeetCode</a:t>
            </a:r>
            <a:r>
              <a:rPr lang="en-GB" sz="2000" dirty="0">
                <a:solidFill>
                  <a:srgbClr val="444444"/>
                </a:solidFill>
                <a:latin typeface="Times New Roman" panose="02020603050405020304" pitchFamily="18" charset="0"/>
                <a:cs typeface="Times New Roman" panose="02020603050405020304" pitchFamily="18" charset="0"/>
              </a:rPr>
              <a:t> and </a:t>
            </a:r>
            <a:r>
              <a:rPr lang="en-GB" sz="2000" dirty="0" err="1">
                <a:solidFill>
                  <a:srgbClr val="444444"/>
                </a:solidFill>
                <a:latin typeface="Times New Roman" panose="02020603050405020304" pitchFamily="18" charset="0"/>
                <a:cs typeface="Times New Roman" panose="02020603050405020304" pitchFamily="18" charset="0"/>
              </a:rPr>
              <a:t>HackerRank</a:t>
            </a:r>
            <a:r>
              <a:rPr lang="en-GB" sz="2000" dirty="0">
                <a:solidFill>
                  <a:srgbClr val="444444"/>
                </a:solidFill>
                <a:latin typeface="Times New Roman" panose="02020603050405020304" pitchFamily="18" charset="0"/>
                <a:cs typeface="Times New Roman" panose="02020603050405020304" pitchFamily="18" charset="0"/>
              </a:rPr>
              <a:t> optimize only for code execution and output verification. None of them assess whether a candidate can explain their reasoning, defend design trade-offs, or handle </a:t>
            </a:r>
            <a:r>
              <a:rPr lang="en-GB" sz="2000" dirty="0" err="1">
                <a:solidFill>
                  <a:srgbClr val="444444"/>
                </a:solidFill>
                <a:latin typeface="Times New Roman" panose="02020603050405020304" pitchFamily="18" charset="0"/>
                <a:cs typeface="Times New Roman" panose="02020603050405020304" pitchFamily="18" charset="0"/>
              </a:rPr>
              <a:t>behavioral</a:t>
            </a:r>
            <a:r>
              <a:rPr lang="en-GB" sz="2000" dirty="0">
                <a:solidFill>
                  <a:srgbClr val="444444"/>
                </a:solidFill>
                <a:latin typeface="Times New Roman" panose="02020603050405020304" pitchFamily="18" charset="0"/>
                <a:cs typeface="Times New Roman" panose="02020603050405020304" pitchFamily="18" charset="0"/>
              </a:rPr>
              <a:t> interviews. An 81% student survey showed candidates feel underprepared for the “explain your approach” portion despite solving hundreds of algorithmic problems.</a:t>
            </a:r>
          </a:p>
          <a:p>
            <a:pPr>
              <a:lnSpc>
                <a:spcPct val="140000"/>
              </a:lnSpc>
            </a:pPr>
            <a:r>
              <a:rPr lang="en-GB" sz="2000" dirty="0">
                <a:solidFill>
                  <a:srgbClr val="444444"/>
                </a:solidFill>
                <a:latin typeface="Times New Roman" panose="02020603050405020304" pitchFamily="18" charset="0"/>
                <a:cs typeface="Times New Roman" panose="02020603050405020304" pitchFamily="18" charset="0"/>
              </a:rPr>
              <a:t>There is also a lack of </a:t>
            </a:r>
            <a:r>
              <a:rPr lang="en-GB" sz="2000" dirty="0" err="1">
                <a:solidFill>
                  <a:srgbClr val="444444"/>
                </a:solidFill>
                <a:latin typeface="Times New Roman" panose="02020603050405020304" pitchFamily="18" charset="0"/>
                <a:cs typeface="Times New Roman" panose="02020603050405020304" pitchFamily="18" charset="0"/>
              </a:rPr>
              <a:t>behavioral</a:t>
            </a:r>
            <a:r>
              <a:rPr lang="en-GB" sz="2000" dirty="0">
                <a:solidFill>
                  <a:srgbClr val="444444"/>
                </a:solidFill>
                <a:latin typeface="Times New Roman" panose="02020603050405020304" pitchFamily="18" charset="0"/>
                <a:cs typeface="Times New Roman" panose="02020603050405020304" pitchFamily="18" charset="0"/>
              </a:rPr>
              <a:t> mentoring, integrity concerns in remote testing, and a “last-mile” skill gap where students cannot translate academic success into industry-standard performance. High-quality interview coaching is expensive and inaccessible. There is a clear need for a platform that combines adaptive assessment, proctoring, </a:t>
            </a:r>
            <a:r>
              <a:rPr lang="en-GB" sz="2000" dirty="0" err="1">
                <a:solidFill>
                  <a:srgbClr val="444444"/>
                </a:solidFill>
                <a:latin typeface="Times New Roman" panose="02020603050405020304" pitchFamily="18" charset="0"/>
                <a:cs typeface="Times New Roman" panose="02020603050405020304" pitchFamily="18" charset="0"/>
              </a:rPr>
              <a:t>behavioral</a:t>
            </a:r>
            <a:r>
              <a:rPr lang="en-GB" sz="2000" dirty="0">
                <a:solidFill>
                  <a:srgbClr val="444444"/>
                </a:solidFill>
                <a:latin typeface="Times New Roman" panose="02020603050405020304" pitchFamily="18" charset="0"/>
                <a:cs typeface="Times New Roman" panose="02020603050405020304" pitchFamily="18" charset="0"/>
              </a:rPr>
              <a:t> mentoring, and diagnostics in one place.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905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1627-C4BE-FC4A-5A3E-F5568E2DB702}"/>
              </a:ext>
            </a:extLst>
          </p:cNvPr>
          <p:cNvSpPr>
            <a:spLocks noGrp="1"/>
          </p:cNvSpPr>
          <p:nvPr>
            <p:ph type="title"/>
          </p:nvPr>
        </p:nvSpPr>
        <p:spPr>
          <a:xfrm>
            <a:off x="457200" y="0"/>
            <a:ext cx="3246120" cy="914040"/>
          </a:xfrm>
        </p:spPr>
        <p:txBody>
          <a:bodyPr/>
          <a:lstStyle/>
          <a:p>
            <a:r>
              <a:rPr lang="en-IN" b="1" dirty="0">
                <a:latin typeface="Times New Roman" panose="02020603050405020304" pitchFamily="18" charset="0"/>
                <a:cs typeface="Times New Roman" panose="02020603050405020304" pitchFamily="18" charset="0"/>
              </a:rPr>
              <a:t>Objectives</a:t>
            </a:r>
            <a:r>
              <a:rPr lang="en-IN" dirty="0"/>
              <a:t>: </a:t>
            </a:r>
          </a:p>
        </p:txBody>
      </p:sp>
      <p:sp>
        <p:nvSpPr>
          <p:cNvPr id="3" name="Subtitle 2">
            <a:extLst>
              <a:ext uri="{FF2B5EF4-FFF2-40B4-BE49-F238E27FC236}">
                <a16:creationId xmlns:a16="http://schemas.microsoft.com/office/drawing/2014/main" id="{476909DB-DC81-8D6C-A0AB-70AA81904E6A}"/>
              </a:ext>
            </a:extLst>
          </p:cNvPr>
          <p:cNvSpPr>
            <a:spLocks noGrp="1"/>
          </p:cNvSpPr>
          <p:nvPr>
            <p:ph type="subTitle"/>
          </p:nvPr>
        </p:nvSpPr>
        <p:spPr>
          <a:xfrm>
            <a:off x="457200" y="1510794"/>
            <a:ext cx="8229240" cy="3977280"/>
          </a:xfrm>
        </p:spPr>
        <p:txBody>
          <a:bodyPr/>
          <a:lstStyle/>
          <a:p>
            <a:pPr>
              <a:lnSpc>
                <a:spcPct val="150000"/>
              </a:lnSpc>
            </a:pPr>
            <a:r>
              <a:rPr lang="en-GB" sz="1800" dirty="0">
                <a:solidFill>
                  <a:srgbClr val="444444"/>
                </a:solidFill>
                <a:latin typeface="Times New Roman" panose="02020603050405020304" pitchFamily="18" charset="0"/>
                <a:cs typeface="Times New Roman" panose="02020603050405020304" pitchFamily="18" charset="0"/>
              </a:rPr>
              <a:t>1. Build an Autonomous AI Assessment Engine using Llama-3.1 to generate adaptive, non-repetitive technical questions.</a:t>
            </a:r>
          </a:p>
          <a:p>
            <a:pPr>
              <a:lnSpc>
                <a:spcPct val="150000"/>
              </a:lnSpc>
            </a:pPr>
            <a:r>
              <a:rPr lang="en-GB" sz="1800" dirty="0">
                <a:solidFill>
                  <a:srgbClr val="444444"/>
                </a:solidFill>
                <a:latin typeface="Times New Roman" panose="02020603050405020304" pitchFamily="18" charset="0"/>
                <a:cs typeface="Times New Roman" panose="02020603050405020304" pitchFamily="18" charset="0"/>
              </a:rPr>
              <a:t>2. Implement a Real-Time Proctoring System using WebRTC, Web Audio API, and Browser Visibility API to ensure assessment integrity.</a:t>
            </a:r>
          </a:p>
          <a:p>
            <a:pPr>
              <a:lnSpc>
                <a:spcPct val="150000"/>
              </a:lnSpc>
            </a:pPr>
            <a:r>
              <a:rPr lang="en-GB" sz="1800" dirty="0">
                <a:solidFill>
                  <a:srgbClr val="444444"/>
                </a:solidFill>
                <a:latin typeface="Times New Roman" panose="02020603050405020304" pitchFamily="18" charset="0"/>
                <a:cs typeface="Times New Roman" panose="02020603050405020304" pitchFamily="18" charset="0"/>
              </a:rPr>
              <a:t>3. Design an AI </a:t>
            </a:r>
            <a:r>
              <a:rPr lang="en-GB" sz="1800" dirty="0" err="1">
                <a:solidFill>
                  <a:srgbClr val="444444"/>
                </a:solidFill>
                <a:latin typeface="Times New Roman" panose="02020603050405020304" pitchFamily="18" charset="0"/>
                <a:cs typeface="Times New Roman" panose="02020603050405020304" pitchFamily="18" charset="0"/>
              </a:rPr>
              <a:t>Behavioral</a:t>
            </a:r>
            <a:r>
              <a:rPr lang="en-GB" sz="1800" dirty="0">
                <a:solidFill>
                  <a:srgbClr val="444444"/>
                </a:solidFill>
                <a:latin typeface="Times New Roman" panose="02020603050405020304" pitchFamily="18" charset="0"/>
                <a:cs typeface="Times New Roman" panose="02020603050405020304" pitchFamily="18" charset="0"/>
              </a:rPr>
              <a:t> Mentor that conducts mock interviews, adapts to the student’s level, and provides personalized coaching.</a:t>
            </a:r>
          </a:p>
          <a:p>
            <a:pPr>
              <a:lnSpc>
                <a:spcPct val="150000"/>
              </a:lnSpc>
            </a:pPr>
            <a:r>
              <a:rPr lang="en-GB" sz="1800" dirty="0">
                <a:solidFill>
                  <a:srgbClr val="444444"/>
                </a:solidFill>
                <a:latin typeface="Times New Roman" panose="02020603050405020304" pitchFamily="18" charset="0"/>
                <a:cs typeface="Times New Roman" panose="02020603050405020304" pitchFamily="18" charset="0"/>
              </a:rPr>
              <a:t>4. Build a Diagnostic Matrix Dashboard using Recharts to visualize skill gaps and track long-term performance improvement.</a:t>
            </a:r>
          </a:p>
          <a:p>
            <a:pPr>
              <a:lnSpc>
                <a:spcPct val="150000"/>
              </a:lnSpc>
            </a:pPr>
            <a:r>
              <a:rPr lang="en-GB" sz="1800" dirty="0">
                <a:solidFill>
                  <a:srgbClr val="444444"/>
                </a:solidFill>
                <a:latin typeface="Times New Roman" panose="02020603050405020304" pitchFamily="18" charset="0"/>
                <a:cs typeface="Times New Roman" panose="02020603050405020304" pitchFamily="18" charset="0"/>
              </a:rPr>
              <a:t>5. Create a Resume Lab with ATS Optimizer and AI-powered career tools including a Job Scanner and Interview Library.</a:t>
            </a:r>
          </a:p>
          <a:p>
            <a:pPr>
              <a:lnSpc>
                <a:spcPct val="150000"/>
              </a:lnSpc>
            </a:pPr>
            <a:r>
              <a:rPr lang="en-GB" sz="1800" dirty="0">
                <a:solidFill>
                  <a:srgbClr val="444444"/>
                </a:solidFill>
                <a:latin typeface="Times New Roman" panose="02020603050405020304" pitchFamily="18" charset="0"/>
                <a:cs typeface="Times New Roman" panose="02020603050405020304" pitchFamily="18" charset="0"/>
              </a:rPr>
              <a:t>6. Deliver </a:t>
            </a:r>
            <a:r>
              <a:rPr lang="en-GB" sz="1800" dirty="0" err="1">
                <a:solidFill>
                  <a:srgbClr val="444444"/>
                </a:solidFill>
                <a:latin typeface="Times New Roman" panose="02020603050405020304" pitchFamily="18" charset="0"/>
                <a:cs typeface="Times New Roman" panose="02020603050405020304" pitchFamily="18" charset="0"/>
              </a:rPr>
              <a:t>Groq</a:t>
            </a:r>
            <a:r>
              <a:rPr lang="en-GB" sz="1800" dirty="0">
                <a:solidFill>
                  <a:srgbClr val="444444"/>
                </a:solidFill>
                <a:latin typeface="Times New Roman" panose="02020603050405020304" pitchFamily="18" charset="0"/>
                <a:cs typeface="Times New Roman" panose="02020603050405020304" pitchFamily="18" charset="0"/>
              </a:rPr>
              <a:t> LPU inference achieving 0.18s time-to-first-token — 17.7x faster than standard cloud GPU infrastructure.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550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A7FB-756B-8D16-BFC7-3E862363FB09}"/>
              </a:ext>
            </a:extLst>
          </p:cNvPr>
          <p:cNvSpPr>
            <a:spLocks noGrp="1"/>
          </p:cNvSpPr>
          <p:nvPr>
            <p:ph type="title"/>
          </p:nvPr>
        </p:nvSpPr>
        <p:spPr>
          <a:xfrm>
            <a:off x="308610" y="91440"/>
            <a:ext cx="5486040" cy="914040"/>
          </a:xfrm>
        </p:spPr>
        <p:txBody>
          <a:bodyPr/>
          <a:lstStyle/>
          <a:p>
            <a:r>
              <a:rPr lang="en-IN" b="1" dirty="0">
                <a:latin typeface="Times New Roman" panose="02020603050405020304" pitchFamily="18" charset="0"/>
                <a:cs typeface="Times New Roman" panose="02020603050405020304" pitchFamily="18" charset="0"/>
              </a:rPr>
              <a:t>Literature Review </a:t>
            </a:r>
          </a:p>
        </p:txBody>
      </p:sp>
      <p:sp>
        <p:nvSpPr>
          <p:cNvPr id="3" name="Subtitle 2">
            <a:extLst>
              <a:ext uri="{FF2B5EF4-FFF2-40B4-BE49-F238E27FC236}">
                <a16:creationId xmlns:a16="http://schemas.microsoft.com/office/drawing/2014/main" id="{504E791B-C9CD-C883-DA4C-F776AABDB3F2}"/>
              </a:ext>
            </a:extLst>
          </p:cNvPr>
          <p:cNvSpPr>
            <a:spLocks noGrp="1"/>
          </p:cNvSpPr>
          <p:nvPr>
            <p:ph type="subTitle"/>
          </p:nvPr>
        </p:nvSpPr>
        <p:spPr>
          <a:xfrm>
            <a:off x="308610" y="1158165"/>
            <a:ext cx="8229240" cy="4541670"/>
          </a:xfrm>
        </p:spPr>
        <p:txBody>
          <a:bodyPr/>
          <a:lstStyle/>
          <a:p>
            <a:r>
              <a:rPr lang="en-US" sz="2400" b="1" dirty="0">
                <a:solidFill>
                  <a:srgbClr val="111111"/>
                </a:solidFill>
                <a:latin typeface="Times New Roman" panose="02020603050405020304" pitchFamily="18" charset="0"/>
                <a:cs typeface="Times New Roman" panose="02020603050405020304" pitchFamily="18" charset="0"/>
              </a:rPr>
              <a:t>1.LeetCode / </a:t>
            </a:r>
            <a:r>
              <a:rPr lang="en-US" sz="2400" b="1" dirty="0" err="1">
                <a:solidFill>
                  <a:srgbClr val="111111"/>
                </a:solidFill>
                <a:latin typeface="Times New Roman" panose="02020603050405020304" pitchFamily="18" charset="0"/>
                <a:cs typeface="Times New Roman" panose="02020603050405020304" pitchFamily="18" charset="0"/>
              </a:rPr>
              <a:t>HackerRank</a:t>
            </a:r>
            <a:r>
              <a:rPr lang="en-US" sz="2400" b="1" dirty="0">
                <a:solidFill>
                  <a:srgbClr val="111111"/>
                </a:solidFill>
                <a:latin typeface="Times New Roman" panose="02020603050405020304" pitchFamily="18" charset="0"/>
                <a:cs typeface="Times New Roman" panose="02020603050405020304" pitchFamily="18" charset="0"/>
              </a:rPr>
              <a:t>:  </a:t>
            </a:r>
            <a:r>
              <a:rPr lang="en-US" sz="2400" dirty="0">
                <a:solidFill>
                  <a:srgbClr val="111111"/>
                </a:solidFill>
                <a:latin typeface="Times New Roman" panose="02020603050405020304" pitchFamily="18" charset="0"/>
                <a:cs typeface="Times New Roman" panose="02020603050405020304" pitchFamily="18" charset="0"/>
              </a:rPr>
              <a:t>Optimized for code execution and output verification. No concept explanation, AI mentoring, proctoring, or weakness tracking.</a:t>
            </a:r>
          </a:p>
          <a:p>
            <a:endParaRPr lang="en-US" sz="2400" b="1" dirty="0">
              <a:solidFill>
                <a:srgbClr val="111111"/>
              </a:solidFill>
              <a:latin typeface="Times New Roman" panose="02020603050405020304" pitchFamily="18" charset="0"/>
              <a:cs typeface="Times New Roman" panose="02020603050405020304" pitchFamily="18" charset="0"/>
            </a:endParaRPr>
          </a:p>
          <a:p>
            <a:r>
              <a:rPr lang="en-US" sz="2400" b="1" dirty="0">
                <a:solidFill>
                  <a:srgbClr val="111111"/>
                </a:solidFill>
                <a:latin typeface="Times New Roman" panose="02020603050405020304" pitchFamily="18" charset="0"/>
                <a:cs typeface="Times New Roman" panose="02020603050405020304" pitchFamily="18" charset="0"/>
              </a:rPr>
              <a:t>2. </a:t>
            </a:r>
            <a:r>
              <a:rPr lang="en-US" sz="2400" b="1" dirty="0" err="1">
                <a:solidFill>
                  <a:srgbClr val="111111"/>
                </a:solidFill>
                <a:latin typeface="Times New Roman" panose="02020603050405020304" pitchFamily="18" charset="0"/>
                <a:cs typeface="Times New Roman" panose="02020603050405020304" pitchFamily="18" charset="0"/>
              </a:rPr>
              <a:t>Pramp</a:t>
            </a:r>
            <a:r>
              <a:rPr lang="en-US" sz="2400" b="1" dirty="0">
                <a:solidFill>
                  <a:srgbClr val="111111"/>
                </a:solidFill>
                <a:latin typeface="Times New Roman" panose="02020603050405020304" pitchFamily="18" charset="0"/>
                <a:cs typeface="Times New Roman" panose="02020603050405020304" pitchFamily="18" charset="0"/>
              </a:rPr>
              <a:t> / </a:t>
            </a:r>
            <a:r>
              <a:rPr lang="en-US" sz="2400" b="1" dirty="0" err="1">
                <a:solidFill>
                  <a:srgbClr val="111111"/>
                </a:solidFill>
                <a:latin typeface="Times New Roman" panose="02020603050405020304" pitchFamily="18" charset="0"/>
                <a:cs typeface="Times New Roman" panose="02020603050405020304" pitchFamily="18" charset="0"/>
              </a:rPr>
              <a:t>InterviewBit</a:t>
            </a:r>
            <a:r>
              <a:rPr lang="en-US" sz="2400" b="1" dirty="0">
                <a:solidFill>
                  <a:srgbClr val="111111"/>
                </a:solidFill>
                <a:latin typeface="Times New Roman" panose="02020603050405020304" pitchFamily="18" charset="0"/>
                <a:cs typeface="Times New Roman" panose="02020603050405020304" pitchFamily="18" charset="0"/>
              </a:rPr>
              <a:t>:  </a:t>
            </a:r>
            <a:r>
              <a:rPr lang="en-US" sz="2400" dirty="0">
                <a:solidFill>
                  <a:srgbClr val="111111"/>
                </a:solidFill>
                <a:latin typeface="Times New Roman" panose="02020603050405020304" pitchFamily="18" charset="0"/>
                <a:cs typeface="Times New Roman" panose="02020603050405020304" pitchFamily="18" charset="0"/>
              </a:rPr>
              <a:t>Offer peer-based mock interviews but lack AI-driven adaptive questions, real-time proctoring, and personalized diagnostics.</a:t>
            </a:r>
          </a:p>
          <a:p>
            <a:endParaRPr lang="en-US" sz="2400" b="1" dirty="0">
              <a:solidFill>
                <a:srgbClr val="111111"/>
              </a:solidFill>
              <a:latin typeface="Times New Roman" panose="02020603050405020304" pitchFamily="18" charset="0"/>
              <a:cs typeface="Times New Roman" panose="02020603050405020304" pitchFamily="18" charset="0"/>
            </a:endParaRPr>
          </a:p>
          <a:p>
            <a:r>
              <a:rPr lang="en-US" sz="2400" b="1" dirty="0">
                <a:solidFill>
                  <a:srgbClr val="111111"/>
                </a:solidFill>
                <a:latin typeface="Times New Roman" panose="02020603050405020304" pitchFamily="18" charset="0"/>
                <a:cs typeface="Times New Roman" panose="02020603050405020304" pitchFamily="18" charset="0"/>
              </a:rPr>
              <a:t>3. </a:t>
            </a:r>
            <a:r>
              <a:rPr lang="en-US" sz="2400" b="1" dirty="0" err="1">
                <a:solidFill>
                  <a:srgbClr val="111111"/>
                </a:solidFill>
                <a:latin typeface="Times New Roman" panose="02020603050405020304" pitchFamily="18" charset="0"/>
                <a:cs typeface="Times New Roman" panose="02020603050405020304" pitchFamily="18" charset="0"/>
              </a:rPr>
              <a:t>Prepzo</a:t>
            </a:r>
            <a:r>
              <a:rPr lang="en-US" sz="2400" b="1" dirty="0">
                <a:solidFill>
                  <a:srgbClr val="111111"/>
                </a:solidFill>
                <a:latin typeface="Times New Roman" panose="02020603050405020304" pitchFamily="18" charset="0"/>
                <a:cs typeface="Times New Roman" panose="02020603050405020304" pitchFamily="18" charset="0"/>
              </a:rPr>
              <a:t> Advantage:  </a:t>
            </a:r>
            <a:r>
              <a:rPr lang="en-US" sz="2400" dirty="0">
                <a:solidFill>
                  <a:srgbClr val="111111"/>
                </a:solidFill>
                <a:latin typeface="Times New Roman" panose="02020603050405020304" pitchFamily="18" charset="0"/>
                <a:cs typeface="Times New Roman" panose="02020603050405020304" pitchFamily="18" charset="0"/>
              </a:rPr>
              <a:t>Uniquely combines AI-driven concept explanation, full proctoring, behavioral mentoring, weakness tracking, and a Resume Lab — all in one platform.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478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D027-7AD0-1185-ACD5-DF64396F20B6}"/>
              </a:ext>
            </a:extLst>
          </p:cNvPr>
          <p:cNvSpPr>
            <a:spLocks noGrp="1"/>
          </p:cNvSpPr>
          <p:nvPr>
            <p:ph type="title"/>
          </p:nvPr>
        </p:nvSpPr>
        <p:spPr>
          <a:xfrm>
            <a:off x="285190" y="0"/>
            <a:ext cx="5486040" cy="914040"/>
          </a:xfrm>
        </p:spPr>
        <p:txBody>
          <a:bodyPr/>
          <a:lstStyle/>
          <a:p>
            <a:r>
              <a:rPr lang="en-IN" b="1" dirty="0">
                <a:latin typeface="Times New Roman" panose="02020603050405020304" pitchFamily="18" charset="0"/>
                <a:cs typeface="Times New Roman" panose="02020603050405020304" pitchFamily="18" charset="0"/>
              </a:rPr>
              <a:t>Technology Stack: </a:t>
            </a:r>
          </a:p>
        </p:txBody>
      </p:sp>
      <p:sp>
        <p:nvSpPr>
          <p:cNvPr id="3" name="Subtitle 2">
            <a:extLst>
              <a:ext uri="{FF2B5EF4-FFF2-40B4-BE49-F238E27FC236}">
                <a16:creationId xmlns:a16="http://schemas.microsoft.com/office/drawing/2014/main" id="{4A39B6F8-FCD4-F1C7-DD7B-797312EA2027}"/>
              </a:ext>
            </a:extLst>
          </p:cNvPr>
          <p:cNvSpPr>
            <a:spLocks noGrp="1"/>
          </p:cNvSpPr>
          <p:nvPr>
            <p:ph type="subTitle"/>
          </p:nvPr>
        </p:nvSpPr>
        <p:spPr>
          <a:xfrm>
            <a:off x="312622" y="1744890"/>
            <a:ext cx="8831378" cy="3536577"/>
          </a:xfrm>
        </p:spPr>
        <p:txBody>
          <a:bodyPr/>
          <a:lstStyle/>
          <a:p>
            <a:pPr marL="0" indent="0">
              <a:buNone/>
            </a:pPr>
            <a:r>
              <a:rPr lang="en-US" sz="1600" b="1" dirty="0">
                <a:solidFill>
                  <a:srgbClr val="111111"/>
                </a:solidFill>
                <a:latin typeface="Times New Roman" panose="02020603050405020304" pitchFamily="18" charset="0"/>
                <a:cs typeface="Times New Roman" panose="02020603050405020304" pitchFamily="18" charset="0"/>
              </a:rPr>
              <a:t>Backend:                                                                                                  Frontend:</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444444"/>
                </a:solidFill>
                <a:latin typeface="Times New Roman" panose="02020603050405020304" pitchFamily="18" charset="0"/>
                <a:cs typeface="Times New Roman" panose="02020603050405020304" pitchFamily="18" charset="0"/>
              </a:rPr>
              <a:t>Runtime: Node.js + Express.js                                                          Framework: React 18 +Vite</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444444"/>
                </a:solidFill>
                <a:latin typeface="Times New Roman" panose="02020603050405020304" pitchFamily="18" charset="0"/>
                <a:cs typeface="Times New Roman" panose="02020603050405020304" pitchFamily="18" charset="0"/>
              </a:rPr>
              <a:t>AI Service: Python + </a:t>
            </a:r>
            <a:r>
              <a:rPr lang="en-US" sz="1600" dirty="0" err="1">
                <a:solidFill>
                  <a:srgbClr val="444444"/>
                </a:solidFill>
                <a:latin typeface="Times New Roman" panose="02020603050405020304" pitchFamily="18" charset="0"/>
                <a:cs typeface="Times New Roman" panose="02020603050405020304" pitchFamily="18" charset="0"/>
              </a:rPr>
              <a:t>FastAPI</a:t>
            </a:r>
            <a:r>
              <a:rPr lang="en-US" sz="1600" dirty="0">
                <a:solidFill>
                  <a:srgbClr val="444444"/>
                </a:solidFill>
                <a:latin typeface="Times New Roman" panose="02020603050405020304" pitchFamily="18" charset="0"/>
                <a:cs typeface="Times New Roman" panose="02020603050405020304" pitchFamily="18" charset="0"/>
              </a:rPr>
              <a:t>                                                           State: Zustand</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444444"/>
                </a:solidFill>
                <a:latin typeface="Times New Roman" panose="02020603050405020304" pitchFamily="18" charset="0"/>
                <a:cs typeface="Times New Roman" panose="02020603050405020304" pitchFamily="18" charset="0"/>
              </a:rPr>
              <a:t>LLM: Groq LPU + Llama-3.1-70B                                                   Proctoring: WebRTC + Web Audio API</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444444"/>
                </a:solidFill>
                <a:latin typeface="Times New Roman" panose="02020603050405020304" pitchFamily="18" charset="0"/>
                <a:cs typeface="Times New Roman" panose="02020603050405020304" pitchFamily="18" charset="0"/>
              </a:rPr>
              <a:t>Database: MongoDB Atlas                                                                Charts: Recharts</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444444"/>
                </a:solidFill>
                <a:latin typeface="Times New Roman" panose="02020603050405020304" pitchFamily="18" charset="0"/>
                <a:cs typeface="Times New Roman" panose="02020603050405020304" pitchFamily="18" charset="0"/>
              </a:rPr>
              <a:t>Auth: JWT + </a:t>
            </a:r>
            <a:r>
              <a:rPr lang="en-US" sz="1600" dirty="0" err="1">
                <a:solidFill>
                  <a:srgbClr val="444444"/>
                </a:solidFill>
                <a:latin typeface="Times New Roman" panose="02020603050405020304" pitchFamily="18" charset="0"/>
                <a:cs typeface="Times New Roman" panose="02020603050405020304" pitchFamily="18" charset="0"/>
              </a:rPr>
              <a:t>bcrypt</a:t>
            </a:r>
            <a:r>
              <a:rPr lang="en-US" sz="1600" dirty="0">
                <a:solidFill>
                  <a:srgbClr val="444444"/>
                </a:solidFill>
                <a:latin typeface="Times New Roman" panose="02020603050405020304" pitchFamily="18" charset="0"/>
                <a:cs typeface="Times New Roman" panose="02020603050405020304" pitchFamily="18" charset="0"/>
              </a:rPr>
              <a:t>                                                                           Routing: React Router</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600" dirty="0">
                <a:solidFill>
                  <a:srgbClr val="444444"/>
                </a:solidFill>
                <a:latin typeface="Times New Roman" panose="02020603050405020304" pitchFamily="18" charset="0"/>
                <a:cs typeface="Times New Roman" panose="02020603050405020304" pitchFamily="18" charset="0"/>
              </a:rPr>
              <a:t>Media: Cloudinary (CDN)                                                                 Validation: Pydantic</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1761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FF22-CAB6-A220-D488-0DD514BABA4D}"/>
              </a:ext>
            </a:extLst>
          </p:cNvPr>
          <p:cNvSpPr>
            <a:spLocks noGrp="1"/>
          </p:cNvSpPr>
          <p:nvPr>
            <p:ph type="title"/>
          </p:nvPr>
        </p:nvSpPr>
        <p:spPr>
          <a:xfrm>
            <a:off x="233082" y="45004"/>
            <a:ext cx="5486040" cy="914040"/>
          </a:xfrm>
        </p:spPr>
        <p:txBody>
          <a:bodyPr/>
          <a:lstStyle/>
          <a:p>
            <a:r>
              <a:rPr lang="en-IN" sz="4000" b="1" dirty="0">
                <a:latin typeface="Times New Roman" panose="02020603050405020304" pitchFamily="18" charset="0"/>
                <a:cs typeface="Times New Roman" panose="02020603050405020304" pitchFamily="18" charset="0"/>
              </a:rPr>
              <a:t>Challenges &amp; Solutions: </a:t>
            </a:r>
          </a:p>
        </p:txBody>
      </p:sp>
      <p:sp>
        <p:nvSpPr>
          <p:cNvPr id="3" name="Subtitle 2">
            <a:extLst>
              <a:ext uri="{FF2B5EF4-FFF2-40B4-BE49-F238E27FC236}">
                <a16:creationId xmlns:a16="http://schemas.microsoft.com/office/drawing/2014/main" id="{278E3FAA-34E1-5257-B033-C250751BED5C}"/>
              </a:ext>
            </a:extLst>
          </p:cNvPr>
          <p:cNvSpPr>
            <a:spLocks noGrp="1"/>
          </p:cNvSpPr>
          <p:nvPr>
            <p:ph type="subTitle"/>
          </p:nvPr>
        </p:nvSpPr>
        <p:spPr>
          <a:xfrm>
            <a:off x="53788" y="1075764"/>
            <a:ext cx="9090212" cy="5280212"/>
          </a:xfrm>
        </p:spPr>
        <p:txBody>
          <a:bodyPr/>
          <a:lstStyle/>
          <a:p>
            <a:r>
              <a:rPr lang="en-US" sz="2000" b="1" dirty="0">
                <a:solidFill>
                  <a:srgbClr val="111111"/>
                </a:solidFill>
                <a:latin typeface="Times New Roman" panose="02020603050405020304" pitchFamily="18" charset="0"/>
                <a:cs typeface="Times New Roman" panose="02020603050405020304" pitchFamily="18" charset="0"/>
              </a:rPr>
              <a:t>AI Response Latency:</a:t>
            </a:r>
          </a:p>
          <a:p>
            <a:r>
              <a:rPr lang="en-US" sz="2000" dirty="0">
                <a:solidFill>
                  <a:srgbClr val="111111"/>
                </a:solidFill>
                <a:latin typeface="Times New Roman" panose="02020603050405020304" pitchFamily="18" charset="0"/>
                <a:cs typeface="Times New Roman" panose="02020603050405020304" pitchFamily="18" charset="0"/>
              </a:rPr>
              <a:t>Solution: Chose </a:t>
            </a:r>
            <a:r>
              <a:rPr lang="en-US" sz="2000" dirty="0" err="1">
                <a:solidFill>
                  <a:srgbClr val="111111"/>
                </a:solidFill>
                <a:latin typeface="Times New Roman" panose="02020603050405020304" pitchFamily="18" charset="0"/>
                <a:cs typeface="Times New Roman" panose="02020603050405020304" pitchFamily="18" charset="0"/>
              </a:rPr>
              <a:t>Groq</a:t>
            </a:r>
            <a:r>
              <a:rPr lang="en-US" sz="2000" dirty="0">
                <a:solidFill>
                  <a:srgbClr val="111111"/>
                </a:solidFill>
                <a:latin typeface="Times New Roman" panose="02020603050405020304" pitchFamily="18" charset="0"/>
                <a:cs typeface="Times New Roman" panose="02020603050405020304" pitchFamily="18" charset="0"/>
              </a:rPr>
              <a:t> LPU hardware achieving 0.18s TTFT for Llama-3.1-70B, 17.7x faster than standard GPU.</a:t>
            </a:r>
          </a:p>
          <a:p>
            <a:r>
              <a:rPr lang="en-US" sz="2000" b="1" dirty="0">
                <a:solidFill>
                  <a:srgbClr val="111111"/>
                </a:solidFill>
                <a:latin typeface="Times New Roman" panose="02020603050405020304" pitchFamily="18" charset="0"/>
                <a:cs typeface="Times New Roman" panose="02020603050405020304" pitchFamily="18" charset="0"/>
              </a:rPr>
              <a:t>Preventing AI Hallucination:</a:t>
            </a:r>
          </a:p>
          <a:p>
            <a:r>
              <a:rPr lang="en-US" sz="2000" dirty="0">
                <a:solidFill>
                  <a:srgbClr val="111111"/>
                </a:solidFill>
                <a:latin typeface="Times New Roman" panose="02020603050405020304" pitchFamily="18" charset="0"/>
                <a:cs typeface="Times New Roman" panose="02020603050405020304" pitchFamily="18" charset="0"/>
              </a:rPr>
              <a:t>Solution: Implemented a 4-stage guardrail pipeline with </a:t>
            </a:r>
            <a:r>
              <a:rPr lang="en-US" sz="2000" dirty="0" err="1">
                <a:solidFill>
                  <a:srgbClr val="111111"/>
                </a:solidFill>
                <a:latin typeface="Times New Roman" panose="02020603050405020304" pitchFamily="18" charset="0"/>
                <a:cs typeface="Times New Roman" panose="02020603050405020304" pitchFamily="18" charset="0"/>
              </a:rPr>
              <a:t>Pydantic</a:t>
            </a:r>
            <a:r>
              <a:rPr lang="en-US" sz="2000" dirty="0">
                <a:solidFill>
                  <a:srgbClr val="111111"/>
                </a:solidFill>
                <a:latin typeface="Times New Roman" panose="02020603050405020304" pitchFamily="18" charset="0"/>
                <a:cs typeface="Times New Roman" panose="02020603050405020304" pitchFamily="18" charset="0"/>
              </a:rPr>
              <a:t> validation and up to 3 auto-retries.</a:t>
            </a:r>
          </a:p>
          <a:p>
            <a:r>
              <a:rPr lang="en-US" sz="2000" b="1" dirty="0">
                <a:solidFill>
                  <a:srgbClr val="111111"/>
                </a:solidFill>
                <a:latin typeface="Times New Roman" panose="02020603050405020304" pitchFamily="18" charset="0"/>
                <a:cs typeface="Times New Roman" panose="02020603050405020304" pitchFamily="18" charset="0"/>
              </a:rPr>
              <a:t>Browser-Native Proctoring:</a:t>
            </a:r>
          </a:p>
          <a:p>
            <a:r>
              <a:rPr lang="en-US" sz="2000" dirty="0">
                <a:solidFill>
                  <a:srgbClr val="111111"/>
                </a:solidFill>
                <a:latin typeface="Times New Roman" panose="02020603050405020304" pitchFamily="18" charset="0"/>
                <a:cs typeface="Times New Roman" panose="02020603050405020304" pitchFamily="18" charset="0"/>
              </a:rPr>
              <a:t>Solution: Used WebRTC </a:t>
            </a:r>
            <a:r>
              <a:rPr lang="en-US" sz="2000" dirty="0" err="1">
                <a:solidFill>
                  <a:srgbClr val="111111"/>
                </a:solidFill>
                <a:latin typeface="Times New Roman" panose="02020603050405020304" pitchFamily="18" charset="0"/>
                <a:cs typeface="Times New Roman" panose="02020603050405020304" pitchFamily="18" charset="0"/>
              </a:rPr>
              <a:t>MediaStream</a:t>
            </a:r>
            <a:r>
              <a:rPr lang="en-US" sz="2000" dirty="0">
                <a:solidFill>
                  <a:srgbClr val="111111"/>
                </a:solidFill>
                <a:latin typeface="Times New Roman" panose="02020603050405020304" pitchFamily="18" charset="0"/>
                <a:cs typeface="Times New Roman" panose="02020603050405020304" pitchFamily="18" charset="0"/>
              </a:rPr>
              <a:t>, Browser Visibility API, and Web Audio API — no extension required.</a:t>
            </a:r>
          </a:p>
          <a:p>
            <a:r>
              <a:rPr lang="en-US" sz="2000" b="1" dirty="0">
                <a:solidFill>
                  <a:srgbClr val="111111"/>
                </a:solidFill>
                <a:latin typeface="Times New Roman" panose="02020603050405020304" pitchFamily="18" charset="0"/>
                <a:cs typeface="Times New Roman" panose="02020603050405020304" pitchFamily="18" charset="0"/>
              </a:rPr>
              <a:t>Non-Repetitive Question Generation:</a:t>
            </a:r>
          </a:p>
          <a:p>
            <a:r>
              <a:rPr lang="en-US" sz="2000" dirty="0">
                <a:solidFill>
                  <a:srgbClr val="111111"/>
                </a:solidFill>
                <a:latin typeface="Times New Roman" panose="02020603050405020304" pitchFamily="18" charset="0"/>
                <a:cs typeface="Times New Roman" panose="02020603050405020304" pitchFamily="18" charset="0"/>
              </a:rPr>
              <a:t>Solution: SHA-256 hash deduplication against candidate history ensures unique questions every session</a:t>
            </a:r>
            <a:r>
              <a:rPr lang="en-US" sz="2000" b="1" dirty="0">
                <a:solidFill>
                  <a:srgbClr val="111111"/>
                </a:solidFill>
                <a:latin typeface="Times New Roman" panose="02020603050405020304" pitchFamily="18" charset="0"/>
                <a:cs typeface="Times New Roman" panose="02020603050405020304" pitchFamily="18" charset="0"/>
              </a:rPr>
              <a:t>.</a:t>
            </a:r>
          </a:p>
          <a:p>
            <a:r>
              <a:rPr lang="en-US" sz="2000" b="1" dirty="0">
                <a:solidFill>
                  <a:srgbClr val="111111"/>
                </a:solidFill>
                <a:latin typeface="Times New Roman" panose="02020603050405020304" pitchFamily="18" charset="0"/>
                <a:cs typeface="Times New Roman" panose="02020603050405020304" pitchFamily="18" charset="0"/>
              </a:rPr>
              <a:t>State Management at Scale:</a:t>
            </a:r>
          </a:p>
          <a:p>
            <a:r>
              <a:rPr lang="en-US" sz="2000" dirty="0">
                <a:solidFill>
                  <a:srgbClr val="111111"/>
                </a:solidFill>
                <a:latin typeface="Times New Roman" panose="02020603050405020304" pitchFamily="18" charset="0"/>
                <a:cs typeface="Times New Roman" panose="02020603050405020304" pitchFamily="18" charset="0"/>
              </a:rPr>
              <a:t>Solution: Replaced Redux with </a:t>
            </a:r>
            <a:r>
              <a:rPr lang="en-US" sz="2000" dirty="0" err="1">
                <a:solidFill>
                  <a:srgbClr val="111111"/>
                </a:solidFill>
                <a:latin typeface="Times New Roman" panose="02020603050405020304" pitchFamily="18" charset="0"/>
                <a:cs typeface="Times New Roman" panose="02020603050405020304" pitchFamily="18" charset="0"/>
              </a:rPr>
              <a:t>Zustand</a:t>
            </a:r>
            <a:r>
              <a:rPr lang="en-US" sz="2000" dirty="0">
                <a:solidFill>
                  <a:srgbClr val="111111"/>
                </a:solidFill>
                <a:latin typeface="Times New Roman" panose="02020603050405020304" pitchFamily="18" charset="0"/>
                <a:cs typeface="Times New Roman" panose="02020603050405020304" pitchFamily="18" charset="0"/>
              </a:rPr>
              <a:t> for minimal re-renders in high-frequency proctoring state updates</a:t>
            </a:r>
            <a:r>
              <a:rPr lang="en-US" sz="2000" b="1" dirty="0">
                <a:solidFill>
                  <a:srgbClr val="111111"/>
                </a:solidFill>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722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F948-D4BF-E756-952D-BA7413DE936A}"/>
              </a:ext>
            </a:extLst>
          </p:cNvPr>
          <p:cNvSpPr>
            <a:spLocks noGrp="1"/>
          </p:cNvSpPr>
          <p:nvPr>
            <p:ph type="title"/>
          </p:nvPr>
        </p:nvSpPr>
        <p:spPr>
          <a:xfrm>
            <a:off x="457200" y="62753"/>
            <a:ext cx="5486040" cy="914040"/>
          </a:xfrm>
        </p:spPr>
        <p:txBody>
          <a:bodyPr/>
          <a:lstStyle/>
          <a:p>
            <a:r>
              <a:rPr lang="en-IN" b="1">
                <a:latin typeface="Times New Roman" panose="02020603050405020304" pitchFamily="18" charset="0"/>
                <a:cs typeface="Times New Roman" panose="02020603050405020304" pitchFamily="18" charset="0"/>
              </a:rPr>
              <a:t>Limitations: </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C2415C-8704-E221-54F4-705375592A93}"/>
              </a:ext>
            </a:extLst>
          </p:cNvPr>
          <p:cNvSpPr>
            <a:spLocks noGrp="1"/>
          </p:cNvSpPr>
          <p:nvPr>
            <p:ph type="subTitle"/>
          </p:nvPr>
        </p:nvSpPr>
        <p:spPr>
          <a:xfrm>
            <a:off x="457380" y="1520969"/>
            <a:ext cx="8229240" cy="3977280"/>
          </a:xfrm>
        </p:spPr>
        <p:txBody>
          <a:bodyPr/>
          <a:lstStyle/>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1.  English-only platform; multilingual and voice-based assessment support not yet implemented.</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2.  In-browser code sandbox (Pyodide/QuickJS) is not yet integrated; coding assessments are text-based.</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3.  Currently web-only; native iOS and Android applications are not available.</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4.  Facial action coding for stress detection (TensorFlow.js MediaPipe) is planned but not yet deployed.</a:t>
            </a:r>
            <a:endParaRPr lang="en-US" sz="2000"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solidFill>
                  <a:srgbClr val="444444"/>
                </a:solidFill>
                <a:latin typeface="Times New Roman" panose="02020603050405020304" pitchFamily="18" charset="0"/>
                <a:cs typeface="Times New Roman" panose="02020603050405020304" pitchFamily="18" charset="0"/>
              </a:rPr>
              <a:t>5.  Pilot tested with limited cohort (100 students); large-scale institutional validation is pending.</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009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25FD-E6F0-14FE-48B2-E52978679991}"/>
              </a:ext>
            </a:extLst>
          </p:cNvPr>
          <p:cNvSpPr>
            <a:spLocks noGrp="1"/>
          </p:cNvSpPr>
          <p:nvPr>
            <p:ph type="title"/>
          </p:nvPr>
        </p:nvSpPr>
        <p:spPr>
          <a:xfrm>
            <a:off x="322729" y="0"/>
            <a:ext cx="5486040" cy="914040"/>
          </a:xfrm>
        </p:spPr>
        <p:txBody>
          <a:bodyPr/>
          <a:lstStyle/>
          <a:p>
            <a:r>
              <a:rPr lang="en-IN" b="1" dirty="0">
                <a:latin typeface="Times New Roman" panose="02020603050405020304" pitchFamily="18" charset="0"/>
                <a:cs typeface="Times New Roman" panose="02020603050405020304" pitchFamily="18" charset="0"/>
              </a:rPr>
              <a:t>Future Scope: </a:t>
            </a:r>
          </a:p>
        </p:txBody>
      </p:sp>
      <p:sp>
        <p:nvSpPr>
          <p:cNvPr id="3" name="Subtitle 2">
            <a:extLst>
              <a:ext uri="{FF2B5EF4-FFF2-40B4-BE49-F238E27FC236}">
                <a16:creationId xmlns:a16="http://schemas.microsoft.com/office/drawing/2014/main" id="{30807534-2BE4-F1BC-BEF4-45641F3F3699}"/>
              </a:ext>
            </a:extLst>
          </p:cNvPr>
          <p:cNvSpPr>
            <a:spLocks noGrp="1"/>
          </p:cNvSpPr>
          <p:nvPr>
            <p:ph type="subTitle"/>
          </p:nvPr>
        </p:nvSpPr>
        <p:spPr>
          <a:xfrm>
            <a:off x="322729" y="1519151"/>
            <a:ext cx="8229240" cy="4532929"/>
          </a:xfrm>
        </p:spPr>
        <p:txBody>
          <a:bodyPr/>
          <a:lstStyle/>
          <a:p>
            <a:pPr marL="0" indent="0">
              <a:lnSpc>
                <a:spcPct val="100000"/>
              </a:lnSpc>
              <a:buNone/>
            </a:pPr>
            <a:r>
              <a:rPr lang="en-US" sz="2200" b="1" dirty="0">
                <a:solidFill>
                  <a:srgbClr val="111111"/>
                </a:solidFill>
                <a:latin typeface="Times New Roman" panose="02020603050405020304" pitchFamily="18" charset="0"/>
                <a:cs typeface="Times New Roman" panose="02020603050405020304" pitchFamily="18" charset="0"/>
              </a:rPr>
              <a:t>1. Cross-Lingual Voice Mentoring: </a:t>
            </a:r>
            <a:r>
              <a:rPr lang="en-US" sz="2200" dirty="0">
                <a:solidFill>
                  <a:srgbClr val="444444"/>
                </a:solidFill>
                <a:latin typeface="Times New Roman" panose="02020603050405020304" pitchFamily="18" charset="0"/>
                <a:cs typeface="Times New Roman" panose="02020603050405020304" pitchFamily="18" charset="0"/>
              </a:rPr>
              <a:t>Integrate Whisper API for real-time speech-to-text in 97 languages, letting candidates answer verbally in their native language.</a:t>
            </a:r>
            <a:endParaRPr lang="en-US" sz="2200" dirty="0">
              <a:latin typeface="Times New Roman" panose="02020603050405020304" pitchFamily="18" charset="0"/>
              <a:cs typeface="Times New Roman" panose="02020603050405020304" pitchFamily="18" charset="0"/>
            </a:endParaRPr>
          </a:p>
          <a:p>
            <a:pPr marL="0" indent="0">
              <a:lnSpc>
                <a:spcPct val="100000"/>
              </a:lnSpc>
              <a:buNone/>
            </a:pPr>
            <a:r>
              <a:rPr lang="en-US" sz="2200" b="1" dirty="0">
                <a:solidFill>
                  <a:srgbClr val="111111"/>
                </a:solidFill>
                <a:latin typeface="Times New Roman" panose="02020603050405020304" pitchFamily="18" charset="0"/>
                <a:cs typeface="Times New Roman" panose="02020603050405020304" pitchFamily="18" charset="0"/>
              </a:rPr>
              <a:t>2. In-Assessment Code Sandbox: </a:t>
            </a:r>
            <a:r>
              <a:rPr lang="en-US" sz="2200" dirty="0">
                <a:solidFill>
                  <a:srgbClr val="444444"/>
                </a:solidFill>
                <a:latin typeface="Times New Roman" panose="02020603050405020304" pitchFamily="18" charset="0"/>
                <a:cs typeface="Times New Roman" panose="02020603050405020304" pitchFamily="18" charset="0"/>
              </a:rPr>
              <a:t>Embed Pyodide (Python) and QuickJS (JavaScript) so candidates can write, run, and debug code directly in the proctored window.</a:t>
            </a:r>
            <a:endParaRPr lang="en-US" sz="2200" dirty="0">
              <a:latin typeface="Times New Roman" panose="02020603050405020304" pitchFamily="18" charset="0"/>
              <a:cs typeface="Times New Roman" panose="02020603050405020304" pitchFamily="18" charset="0"/>
            </a:endParaRPr>
          </a:p>
          <a:p>
            <a:pPr marL="0" indent="0">
              <a:lnSpc>
                <a:spcPct val="100000"/>
              </a:lnSpc>
              <a:buNone/>
            </a:pPr>
            <a:r>
              <a:rPr lang="en-US" sz="2200" b="1" dirty="0">
                <a:solidFill>
                  <a:srgbClr val="111111"/>
                </a:solidFill>
                <a:latin typeface="Times New Roman" panose="02020603050405020304" pitchFamily="18" charset="0"/>
                <a:cs typeface="Times New Roman" panose="02020603050405020304" pitchFamily="18" charset="0"/>
              </a:rPr>
              <a:t>3. Stress Detection via MediaPipe: </a:t>
            </a:r>
            <a:r>
              <a:rPr lang="en-US" sz="2200" dirty="0">
                <a:solidFill>
                  <a:srgbClr val="444444"/>
                </a:solidFill>
                <a:latin typeface="Times New Roman" panose="02020603050405020304" pitchFamily="18" charset="0"/>
                <a:cs typeface="Times New Roman" panose="02020603050405020304" pitchFamily="18" charset="0"/>
              </a:rPr>
              <a:t>Use TensorFlow.js face mesh to detect brow tension as a cognitive overload proxy and offer voluntary pause breaks.</a:t>
            </a:r>
            <a:endParaRPr lang="en-US" sz="2200" dirty="0">
              <a:latin typeface="Times New Roman" panose="02020603050405020304" pitchFamily="18" charset="0"/>
              <a:cs typeface="Times New Roman" panose="02020603050405020304" pitchFamily="18" charset="0"/>
            </a:endParaRPr>
          </a:p>
          <a:p>
            <a:pPr marL="0" indent="0">
              <a:lnSpc>
                <a:spcPct val="100000"/>
              </a:lnSpc>
              <a:buNone/>
            </a:pPr>
            <a:r>
              <a:rPr lang="en-US" sz="2200" b="1" dirty="0">
                <a:solidFill>
                  <a:srgbClr val="111111"/>
                </a:solidFill>
                <a:latin typeface="Times New Roman" panose="02020603050405020304" pitchFamily="18" charset="0"/>
                <a:cs typeface="Times New Roman" panose="02020603050405020304" pitchFamily="18" charset="0"/>
              </a:rPr>
              <a:t>4. Peer Interview Mode: </a:t>
            </a:r>
            <a:r>
              <a:rPr lang="en-US" sz="2200" dirty="0">
                <a:solidFill>
                  <a:srgbClr val="444444"/>
                </a:solidFill>
                <a:latin typeface="Times New Roman" panose="02020603050405020304" pitchFamily="18" charset="0"/>
                <a:cs typeface="Times New Roman" panose="02020603050405020304" pitchFamily="18" charset="0"/>
              </a:rPr>
              <a:t>AI-analyzed peer interview pairs that assess both communication clarity and technical correctness simultaneously.</a:t>
            </a:r>
            <a:endParaRPr lang="en-US" sz="2200" dirty="0">
              <a:latin typeface="Times New Roman" panose="02020603050405020304" pitchFamily="18" charset="0"/>
              <a:cs typeface="Times New Roman" panose="02020603050405020304" pitchFamily="18" charset="0"/>
            </a:endParaRPr>
          </a:p>
          <a:p>
            <a:pPr marL="0" indent="0">
              <a:lnSpc>
                <a:spcPct val="100000"/>
              </a:lnSpc>
              <a:buNone/>
            </a:pPr>
            <a:r>
              <a:rPr lang="en-US" sz="2200" b="1" dirty="0">
                <a:solidFill>
                  <a:srgbClr val="111111"/>
                </a:solidFill>
                <a:latin typeface="Times New Roman" panose="02020603050405020304" pitchFamily="18" charset="0"/>
                <a:cs typeface="Times New Roman" panose="02020603050405020304" pitchFamily="18" charset="0"/>
              </a:rPr>
              <a:t>5. Enterprise Dashboard: </a:t>
            </a:r>
            <a:r>
              <a:rPr lang="en-US" sz="2200" dirty="0">
                <a:solidFill>
                  <a:srgbClr val="444444"/>
                </a:solidFill>
                <a:latin typeface="Times New Roman" panose="02020603050405020304" pitchFamily="18" charset="0"/>
                <a:cs typeface="Times New Roman" panose="02020603050405020304" pitchFamily="18" charset="0"/>
              </a:rPr>
              <a:t>B2B offering for colleges and L&amp;D teams with batch analytics, placement readiness scores, and AI-generated study plans.</a:t>
            </a:r>
            <a:endParaRPr lang="en-US" sz="2200" dirty="0">
              <a:latin typeface="Times New Roman" panose="02020603050405020304" pitchFamily="18" charset="0"/>
              <a:cs typeface="Times New Roman" panose="02020603050405020304" pitchFamily="18" charset="0"/>
            </a:endParaRPr>
          </a:p>
          <a:p>
            <a:pPr>
              <a:lnSpc>
                <a:spcPct val="10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510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49B8-FC47-3127-6CC8-D80F54D37435}"/>
              </a:ext>
            </a:extLst>
          </p:cNvPr>
          <p:cNvSpPr>
            <a:spLocks noGrp="1"/>
          </p:cNvSpPr>
          <p:nvPr>
            <p:ph type="title"/>
          </p:nvPr>
        </p:nvSpPr>
        <p:spPr>
          <a:xfrm>
            <a:off x="313945" y="0"/>
            <a:ext cx="5486040" cy="914040"/>
          </a:xfrm>
        </p:spPr>
        <p:txBody>
          <a:bodyPr/>
          <a:lstStyle/>
          <a:p>
            <a:r>
              <a:rPr lang="en-IN" b="1" dirty="0">
                <a:latin typeface="Times New Roman" panose="02020603050405020304" pitchFamily="18" charset="0"/>
                <a:cs typeface="Times New Roman" panose="02020603050405020304" pitchFamily="18" charset="0"/>
              </a:rPr>
              <a:t>Conclusion: </a:t>
            </a:r>
          </a:p>
        </p:txBody>
      </p:sp>
      <p:sp>
        <p:nvSpPr>
          <p:cNvPr id="3" name="Subtitle 2">
            <a:extLst>
              <a:ext uri="{FF2B5EF4-FFF2-40B4-BE49-F238E27FC236}">
                <a16:creationId xmlns:a16="http://schemas.microsoft.com/office/drawing/2014/main" id="{AF0F9A73-B599-772D-1E37-A82B36D2DED9}"/>
              </a:ext>
            </a:extLst>
          </p:cNvPr>
          <p:cNvSpPr>
            <a:spLocks noGrp="1"/>
          </p:cNvSpPr>
          <p:nvPr>
            <p:ph type="subTitle"/>
          </p:nvPr>
        </p:nvSpPr>
        <p:spPr>
          <a:xfrm>
            <a:off x="313945" y="1122194"/>
            <a:ext cx="8229240" cy="5224818"/>
          </a:xfrm>
        </p:spPr>
        <p:txBody>
          <a:bodyPr/>
          <a:lstStyle/>
          <a:p>
            <a:pPr marL="0" indent="0">
              <a:lnSpc>
                <a:spcPct val="140000"/>
              </a:lnSpc>
              <a:buNone/>
            </a:pPr>
            <a:r>
              <a:rPr lang="en-US" sz="2000" dirty="0">
                <a:solidFill>
                  <a:srgbClr val="444444"/>
                </a:solidFill>
                <a:latin typeface="Times New Roman" panose="02020603050405020304" pitchFamily="18" charset="0"/>
                <a:cs typeface="Times New Roman" panose="02020603050405020304" pitchFamily="18" charset="0"/>
              </a:rPr>
              <a:t>Prepzo has been successfully developed and deployed as a comprehensive, full-stack AI Career Platform. All core objectives were met: an Autonomous AI Assessment Engine powered by Llama-3.1-70B via Groq LPU achieves 0.18s time-to-first-token, the Real-Time Proctoring System reduced major violations by 68% in pilot testing, and the AI Behavioral Mentor demonstrated 4.2 average interaction turns per session.</a:t>
            </a:r>
            <a:endParaRPr lang="en-US" sz="2000" dirty="0">
              <a:latin typeface="Times New Roman" panose="02020603050405020304" pitchFamily="18" charset="0"/>
              <a:cs typeface="Times New Roman" panose="02020603050405020304" pitchFamily="18" charset="0"/>
            </a:endParaRPr>
          </a:p>
          <a:p>
            <a:pPr marL="0" indent="0">
              <a:lnSpc>
                <a:spcPct val="140000"/>
              </a:lnSpc>
              <a:buNone/>
            </a:pPr>
            <a:r>
              <a:rPr lang="en-US" sz="2000" dirty="0">
                <a:solidFill>
                  <a:srgbClr val="444444"/>
                </a:solidFill>
                <a:latin typeface="Times New Roman" panose="02020603050405020304" pitchFamily="18" charset="0"/>
                <a:cs typeface="Times New Roman" panose="02020603050405020304" pitchFamily="18" charset="0"/>
              </a:rPr>
              <a:t>The platform successfully bridges the gap between academic preparation and industry expectations — democratizing high-end career coaching for every student. With a scalable microservices architecture and a clear roadmap for multilingual voice mentoring, code sandboxing, and enterprise dashboards, Prepzo is positioned to transform how students prepare for modern AI-driven recruitment processes.</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935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283696"/>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34855</TotalTime>
  <Words>1240</Words>
  <Application>Microsoft Office PowerPoint</Application>
  <PresentationFormat>On-screen Show (4:3)</PresentationFormat>
  <Paragraphs>74</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    Acknowledgement</vt:lpstr>
      <vt:lpstr>PowerPoint Presentation</vt:lpstr>
      <vt:lpstr>Problem Statement: </vt:lpstr>
      <vt:lpstr>Objectives: </vt:lpstr>
      <vt:lpstr>Literature Review </vt:lpstr>
      <vt:lpstr>Technology Stack: </vt:lpstr>
      <vt:lpstr>Challenges &amp; Solutions: </vt:lpstr>
      <vt:lpstr>Limitations: </vt:lpstr>
      <vt:lpstr>Future Scope: </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Aayush Soni</cp:lastModifiedBy>
  <cp:revision>2301</cp:revision>
  <dcterms:created xsi:type="dcterms:W3CDTF">2010-04-09T07:36:15Z</dcterms:created>
  <dcterms:modified xsi:type="dcterms:W3CDTF">2026-05-14T05:08:18Z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